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60" r:id="rId3"/>
    <p:sldId id="261" r:id="rId4"/>
    <p:sldId id="263" r:id="rId5"/>
    <p:sldId id="265" r:id="rId6"/>
    <p:sldId id="266" r:id="rId7"/>
    <p:sldId id="267" r:id="rId8"/>
    <p:sldId id="268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16" d="100"/>
          <a:sy n="116" d="100"/>
        </p:scale>
        <p:origin x="252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596C-2A31-4603-8994-1C9ADD0A55A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FA35-6F23-47B8-9961-707A9BE9146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596C-2A31-4603-8994-1C9ADD0A55A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FA35-6F23-47B8-9961-707A9BE9146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596C-2A31-4603-8994-1C9ADD0A55A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FA35-6F23-47B8-9961-707A9BE9146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596C-2A31-4603-8994-1C9ADD0A55A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FA35-6F23-47B8-9961-707A9BE9146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596C-2A31-4603-8994-1C9ADD0A55A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FA35-6F23-47B8-9961-707A9BE9146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596C-2A31-4603-8994-1C9ADD0A55A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FA35-6F23-47B8-9961-707A9BE9146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596C-2A31-4603-8994-1C9ADD0A55A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FA35-6F23-47B8-9961-707A9BE9146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596C-2A31-4603-8994-1C9ADD0A55A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FA35-6F23-47B8-9961-707A9BE9146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596C-2A31-4603-8994-1C9ADD0A55A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FA35-6F23-47B8-9961-707A9BE9146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596C-2A31-4603-8994-1C9ADD0A55A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FA35-6F23-47B8-9961-707A9BE9146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596C-2A31-4603-8994-1C9ADD0A55A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FA35-6F23-47B8-9961-707A9BE9146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D596C-2A31-4603-8994-1C9ADD0A55A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FFA35-6F23-47B8-9961-707A9BE9146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3214" y="169864"/>
            <a:ext cx="10507662" cy="1406525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SIR  M VISVESWARAYA INSTITUTE OF TECHNOLOGY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333" y="1576389"/>
            <a:ext cx="10584392" cy="4776786"/>
          </a:xfrm>
        </p:spPr>
        <p:txBody>
          <a:bodyPr rtlCol="0">
            <a:normAutofit/>
          </a:bodyPr>
          <a:lstStyle/>
          <a:p>
            <a:pPr algn="ctr">
              <a:defRPr sz="1500" b="1">
                <a:solidFill>
                  <a:srgbClr val="64748B"/>
                </a:solidFill>
              </a:defRPr>
            </a:pPr>
            <a:r>
              <a:t>The Project Phase-II Presentation On</a:t>
            </a:r>
          </a:p>
          <a:p>
            <a:pPr algn="ctr">
              <a:defRPr sz="2000" b="1">
                <a:solidFill>
                  <a:srgbClr val="0284C7"/>
                </a:solidFill>
              </a:defRPr>
            </a:pPr>
            <a:r>
              <a:t>An Intelligent Healthcare System for Early Diagnosis of Diabetic Retinopathy Using AI and Quantum-Enhanced Deep Learning</a:t>
            </a:r>
          </a:p>
          <a:p>
            <a:br/>
            <a:pPr algn="ctr">
              <a:defRPr sz="1300" b="1">
                <a:solidFill>
                  <a:srgbClr val="0F172A"/>
                </a:solidFill>
              </a:defRPr>
            </a:pPr>
            <a:r>
              <a:t>PRESENTED BY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Sandeep Kumar                                 1MV23CS139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Saisaket Dhannure                             1MV23CS134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Lalith Kumar K                                1MV23CS078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E B Nandeesha                                 1MV24CS405</a:t>
            </a:r>
          </a:p>
          <a:p>
            <a:br/>
            <a:pPr algn="ctr">
              <a:defRPr sz="1300" b="1">
                <a:solidFill>
                  <a:srgbClr val="0F172A"/>
                </a:solidFill>
              </a:defRPr>
            </a:pPr>
            <a:r>
              <a:t>UNDER THE GUIDANCE OF</a:t>
            </a:r>
          </a:p>
          <a:p>
            <a:pPr algn="ctr">
              <a:defRPr sz="1200" b="1">
                <a:solidFill>
                  <a:srgbClr val="0284C7"/>
                </a:solidFill>
              </a:defRPr>
            </a:pPr>
            <a:r>
              <a:t>Dr. T N Anitha                     Dr. T N Anitha                  Dr. T N Anitha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Professor &amp; HOD (Guide)           Project Co-ordinator            Professor &amp; HOD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Dept. of CSE, Sir MVIT            Dept. of CSE, Sir MVIT          Dept. of CSE, Sir MVIT</a:t>
            </a:r>
          </a:p>
        </p:txBody>
      </p:sp>
      <p:pic>
        <p:nvPicPr>
          <p:cNvPr id="3076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526" y="1"/>
            <a:ext cx="1895475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2659"/>
            <a:ext cx="10515600" cy="1065742"/>
          </a:xfrm>
        </p:spPr>
        <p:txBody>
          <a:bodyPr/>
          <a:lstStyle/>
          <a:p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188720"/>
            <a:ext cx="10698480" cy="5120640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800"/>
              </a:spcAft>
              <a:buNone/>
              <a:defRPr sz="1300" b="1">
                <a:solidFill>
                  <a:srgbClr val="0284C7"/>
                </a:solidFill>
              </a:defRPr>
            </a:pPr>
            <a:r>
              <a:t>I. Implementation  ➔  </a:t>
            </a:r>
            <a:r>
              <a:rPr b="0" sz="1200">
                <a:solidFill>
                  <a:srgbClr val="1E293B"/>
                </a:solidFill>
              </a:rPr>
              <a:t>End-to-End Pipeline Architecture, Quality Gate, EfficientNet-B0 Backbone, 4-Qubit VQC &amp; Web Platform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</a:defRPr>
            </a:pPr>
            <a:r>
              <a:t>II. Testing  ➔  </a:t>
            </a:r>
            <a:r>
              <a:rPr b="0" sz="1200">
                <a:solidFill>
                  <a:srgbClr val="1E293B"/>
                </a:solidFill>
              </a:rPr>
              <a:t>36/36 Automated Pytest Suites, Patient Safety Invariant Gate, and Cross-Dataset Validation (ROC, DRIVE, RFMiD 2.0)</a:t>
            </a:r>
          </a:p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</a:defRPr>
            </a:pPr>
            <a:r>
              <a:t>III. Performance Analysis  ➔  </a:t>
            </a:r>
            <a:r>
              <a:rPr b="0" sz="1200">
                <a:solidFill>
                  <a:srgbClr val="1E293B"/>
                </a:solidFill>
              </a:rPr>
              <a:t>Controlled Architecture Ablation (QWK = 0.650), RFMiD Holdout (100% Sensitivity, 81.2% Specificity), and Latency</a:t>
            </a:r>
          </a:p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</a:defRPr>
            </a:pPr>
            <a:r>
              <a:t>IV. Publication / Conference  ➔  </a:t>
            </a:r>
            <a:r>
              <a:rPr b="0" sz="1200">
                <a:solidFill>
                  <a:srgbClr val="1E293B"/>
                </a:solidFill>
              </a:rPr>
              <a:t>Research Paper Details, Author Contributions, IEEE/Scopus Target Venue, and 3 Core Published Novelties</a:t>
            </a:r>
          </a:p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</a:defRPr>
            </a:pPr>
            <a:r>
              <a:t>V. Outcomes Mapped to SDG  ➔  </a:t>
            </a:r>
            <a:r>
              <a:rPr b="0" sz="1200">
                <a:solidFill>
                  <a:srgbClr val="1E293B"/>
                </a:solidFill>
              </a:rPr>
              <a:t>Direct Alignment with UN SDG 3 (Good Health), SDG 9 (Health Innovation), and SDG 10 (Reduced Inequalities)</a:t>
            </a:r>
          </a:p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</a:defRPr>
            </a:pPr>
            <a:r>
              <a:t>VI. Screenshots &amp; Demonstration  ➔  </a:t>
            </a:r>
            <a:r>
              <a:rPr b="0" sz="1200">
                <a:solidFill>
                  <a:srgbClr val="1E293B"/>
                </a:solidFill>
              </a:rPr>
              <a:t>Interactive Tele-Ophthalmology Dashboard, Saliency Explorer with Opacity Slider, and Downloadable Medical Report</a:t>
            </a:r>
          </a:p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</a:defRPr>
            </a:pPr>
            <a:r>
              <a:t>VII. Summary &amp; References  ➔  </a:t>
            </a:r>
            <a:r>
              <a:rPr b="0" sz="1200">
                <a:solidFill>
                  <a:srgbClr val="1E293B"/>
                </a:solidFill>
              </a:rPr>
              <a:t>Consolidated Project Deliverables, Translational Clinical Impact, Future Roadmap, and Academic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Implementation &amp; 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005840"/>
            <a:ext cx="10698480" cy="1280160"/>
          </a:xfrm>
        </p:spPr>
        <p:txBody>
          <a:bodyPr/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Pipeline Overview: </a:t>
            </a:r>
            <a:r>
              <a:rPr b="0">
                <a:solidFill>
                  <a:srgbClr val="1E293B"/>
                </a:solidFill>
              </a:rPr>
              <a:t>Clinical tele-screening system combining Quality Control, Frozen Feature Extraction, a 4-Qubit VQC, and Explainable AI.</a:t>
            </a:r>
            <a:endParaRPr lang="en-IN" dirty="0"/>
          </a:p>
          <a:p>
            <a:pPr>
              <a:defRPr sz="1150" b="1">
                <a:solidFill>
                  <a:srgbClr val="0284C7"/>
                </a:solidFill>
              </a:defRPr>
            </a:pPr>
            <a:r>
              <a:t>Core Invariant: </a:t>
            </a:r>
            <a:r>
              <a:rPr b="0">
                <a:solidFill>
                  <a:srgbClr val="1E293B"/>
                </a:solidFill>
              </a:rPr>
              <a:t>The Quality Gate rejects degraded/blurred images as UNGRA_RECAPTURE; an ungradable image can NEVER output a reassuring 'No DR'.</a:t>
            </a:r>
          </a:p>
        </p:txBody>
      </p:sp>
      <p:pic>
        <p:nvPicPr>
          <p:cNvPr id="4" name="Picture 3" descr="fig1_pipelin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106984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Testing, Validation &amp; Safety Invariant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005840"/>
            <a:ext cx="10698480" cy="1280160"/>
          </a:xfrm>
        </p:spPr>
        <p:txBody>
          <a:bodyPr/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Rigorous Verification: </a:t>
            </a:r>
            <a:r>
              <a:rPr b="0">
                <a:solidFill>
                  <a:srgbClr val="1E293B"/>
                </a:solidFill>
              </a:rPr>
              <a:t>Multi-tier testing strategy combining automated unit/integration tests, invariant safety gates, and multi-disease benchmarks.</a:t>
            </a:r>
            <a:endParaRPr lang="en-IN" dirty="0"/>
          </a:p>
          <a:p>
            <a:pPr>
              <a:defRPr sz="1150" b="1">
                <a:solidFill>
                  <a:srgbClr val="0284C7"/>
                </a:solidFill>
              </a:defRPr>
            </a:pPr>
            <a:r>
              <a:t>Safety Compliance: </a:t>
            </a:r>
            <a:r>
              <a:rPr b="0">
                <a:solidFill>
                  <a:srgbClr val="1E293B"/>
                </a:solidFill>
              </a:rPr>
              <a:t>100.0% compliance on quality gate safety invariant: zero degraded images misclassified as healthy across all evaluations.</a:t>
            </a:r>
          </a:p>
        </p:txBody>
      </p:sp>
      <p:pic>
        <p:nvPicPr>
          <p:cNvPr id="4" name="Picture 3" descr="fig5_testin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106984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Performance Analysis: Benchmarks &amp; Controlled Ablation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005840"/>
            <a:ext cx="10698480" cy="1280160"/>
          </a:xfrm>
        </p:spPr>
        <p:txBody>
          <a:bodyPr/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Controlled Head Ablation: </a:t>
            </a:r>
            <a:r>
              <a:rPr b="0">
                <a:solidFill>
                  <a:srgbClr val="1E293B"/>
                </a:solidFill>
              </a:rPr>
              <a:t>Fair evaluation on identical frozen features (Classical QWK = 0.650 vs Matched Control QWK = 0.628 vs Quantum VQC QWK = 0.638).</a:t>
            </a:r>
            <a:endParaRPr lang="en-US"/>
          </a:p>
          <a:p>
            <a:pPr>
              <a:defRPr sz="1150" b="1">
                <a:solidFill>
                  <a:srgbClr val="0284C7"/>
                </a:solidFill>
              </a:defRPr>
            </a:pPr>
            <a:r>
              <a:t>Diagnostic Efficacy: </a:t>
            </a:r>
            <a:r>
              <a:rPr b="0">
                <a:solidFill>
                  <a:srgbClr val="1E293B"/>
                </a:solidFill>
              </a:rPr>
              <a:t>Referable DR Sensitivity: 100.0% (target &gt;= 85%). Normal Specificity: 81.2% (target &gt;= 70%). Inference turnaround &lt; 1.2s per image.</a:t>
            </a:r>
          </a:p>
        </p:txBody>
      </p:sp>
      <p:pic>
        <p:nvPicPr>
          <p:cNvPr id="4" name="Picture 3" descr="fig2_performance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106984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Research Publication &amp; Conference Dissemination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188720"/>
            <a:ext cx="10698480" cy="5120640"/>
          </a:xfrm>
        </p:spPr>
        <p:txBody>
          <a:bodyPr/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•  Paper Title: </a:t>
            </a:r>
            <a:r>
              <a:rPr b="0" sz="1200">
                <a:solidFill>
                  <a:srgbClr val="1E293B"/>
                </a:solidFill>
              </a:rPr>
              <a:t>An Intelligent Healthcare System for Early Diagnosis of Diabetic Retinopathy Using AI and Quantum-Enhanced Deep Learning</a:t>
            </a:r>
            <a:endParaRPr lang="en-IN"/>
          </a:p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•  Authors: </a:t>
            </a:r>
            <a:r>
              <a:rPr b="0" sz="1200">
                <a:solidFill>
                  <a:srgbClr val="1E293B"/>
                </a:solidFill>
              </a:rPr>
              <a:t>1st Dr. T N Anitha (Professor &amp; HOD, Guide), 2nd Sandeep Kumar (1MV23CS139), 3rd Saisaket Dhannure (1MV23CS134), 4th Lalith Kumar K (1MV23CS078), 5th E B Nandeesha (1MV24CS405).</a:t>
            </a:r>
          </a:p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•  Affiliation: </a:t>
            </a:r>
            <a:r>
              <a:rPr b="0" sz="1200">
                <a:solidFill>
                  <a:srgbClr val="1E293B"/>
                </a:solidFill>
              </a:rPr>
              <a:t>Department of Computer Science &amp; Engineering, Sir M. Visvesvaraya Institute of Technology, Bengaluru, India.</a:t>
            </a:r>
          </a:p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•  Target Indexing &amp; Forum: </a:t>
            </a:r>
            <a:r>
              <a:rPr b="0" sz="1200">
                <a:solidFill>
                  <a:srgbClr val="1E293B"/>
                </a:solidFill>
              </a:rPr>
              <a:t>IEEE / Springer / Scopus-Indexed International Conference on Healthcare AI, Telemedicine &amp; Quantum Computing.</a:t>
            </a:r>
          </a:p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•  Core Innovation 1: </a:t>
            </a:r>
            <a:r>
              <a:rPr b="0" sz="1200">
                <a:solidFill>
                  <a:srgbClr val="1E293B"/>
                </a:solidFill>
              </a:rPr>
              <a:t>Automated Quality Gate Safety Invariant: Guarantees zero false-reassuring discharges on ungradable photographs.</a:t>
            </a:r>
          </a:p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•  Core Innovation 2: </a:t>
            </a:r>
            <a:r>
              <a:rPr b="0" sz="1200">
                <a:solidFill>
                  <a:srgbClr val="1E293B"/>
                </a:solidFill>
              </a:rPr>
              <a:t>Controlled Hybrid Quantum Ablation: Isolates genuine quantum expressivity against matched classical capacity baselines.</a:t>
            </a:r>
          </a:p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•  Core Innovation 3: </a:t>
            </a:r>
            <a:r>
              <a:rPr b="0" sz="1200">
                <a:solidFill>
                  <a:srgbClr val="1E293B"/>
                </a:solidFill>
              </a:rPr>
              <a:t>Multi-Axis Ocular Health Analytics: Integrates Grad-CAM XAI with quantitative risk scoring for Vasculature, DME, CDR, and Lens clarity.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Outcomes Mapped to UN Sustainable Development Goals (SDG)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005840"/>
            <a:ext cx="10698480" cy="1280160"/>
          </a:xfrm>
        </p:spPr>
        <p:txBody>
          <a:bodyPr/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Global Health Alignment: </a:t>
            </a:r>
            <a:r>
              <a:rPr b="0">
                <a:solidFill>
                  <a:srgbClr val="1E293B"/>
                </a:solidFill>
              </a:rPr>
              <a:t>Directly targets United Nations Sustainable Development Goals by closing the screening gap in preventable diabetic blindness.</a:t>
            </a:r>
            <a:endParaRPr lang="en-IN" dirty="0"/>
          </a:p>
          <a:p>
            <a:pPr>
              <a:defRPr sz="1150" b="1">
                <a:solidFill>
                  <a:srgbClr val="0284C7"/>
                </a:solidFill>
              </a:defRPr>
            </a:pPr>
            <a:r>
              <a:t>Tele-Ophthalmology Reach: </a:t>
            </a:r>
            <a:r>
              <a:rPr b="0">
                <a:solidFill>
                  <a:srgbClr val="1E293B"/>
                </a:solidFill>
              </a:rPr>
              <a:t>Enables point-of-care risk stratification in rural clinics, eliminating costly travel and specialist referral bottlenecks.</a:t>
            </a:r>
          </a:p>
        </p:txBody>
      </p:sp>
      <p:pic>
        <p:nvPicPr>
          <p:cNvPr id="4" name="Picture 3" descr="fig3_sdg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106984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Demonstration: Tele-Ophthalmology Platform &amp; Clinical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005840"/>
            <a:ext cx="10698480" cy="365760"/>
          </a:xfrm>
        </p:spPr>
        <p:txBody>
          <a:bodyPr/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1. Quality Gate Screening  |  2. Grad-CAM Saliency Explorer  |  3. Multi-Axis Eye Health  |  4. Hospital-Grade Medical PDF</a:t>
            </a:r>
            <a:endParaRPr lang="en-IN" dirty="0"/>
          </a:p>
        </p:txBody>
      </p:sp>
      <p:pic>
        <p:nvPicPr>
          <p:cNvPr id="4" name="Picture 3" descr="fig4_screenshots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SUMMARY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188720"/>
            <a:ext cx="10698480" cy="5120640"/>
          </a:xfrm>
        </p:spPr>
        <p:txBody>
          <a:bodyPr/>
          <a:lstStyle/>
          <a:p>
            <a:pPr>
              <a:spcAft>
                <a:spcPts val="500"/>
              </a:spcAft>
              <a:defRPr sz="1250" b="1">
                <a:solidFill>
                  <a:srgbClr val="10B981"/>
                </a:solidFill>
              </a:defRPr>
            </a:pPr>
            <a:r>
              <a:t>✔  Consolidated Contributions: </a:t>
            </a:r>
            <a:r>
              <a:rPr b="0" sz="1150">
                <a:solidFill>
                  <a:srgbClr val="1E293B"/>
                </a:solidFill>
              </a:rPr>
              <a:t>Successfully translated research paper methodology into an inspectable, operational tele-ophthalmology screening platform.</a:t>
            </a:r>
            <a:endParaRPr lang="en-IN" dirty="0"/>
          </a:p>
          <a:p>
            <a:pPr>
              <a:spcAft>
                <a:spcPts val="500"/>
              </a:spcAft>
              <a:defRPr sz="1250" b="1">
                <a:solidFill>
                  <a:srgbClr val="10B981"/>
                </a:solidFill>
              </a:defRPr>
            </a:pPr>
            <a:r>
              <a:t>✔  Safety-First Engineering: </a:t>
            </a:r>
            <a:r>
              <a:rPr b="0" sz="1150">
                <a:solidFill>
                  <a:srgbClr val="1E293B"/>
                </a:solidFill>
              </a:rPr>
              <a:t>Enforced automated Quality Gate invariant: ungradable/blurred images strictly trigger mandatory recapture, eliminating false-reassuring negative discharges.</a:t>
            </a:r>
          </a:p>
          <a:p>
            <a:pPr>
              <a:spcAft>
                <a:spcPts val="500"/>
              </a:spcAft>
              <a:defRPr sz="1250" b="1">
                <a:solidFill>
                  <a:srgbClr val="10B981"/>
                </a:solidFill>
              </a:defRPr>
            </a:pPr>
            <a:r>
              <a:t>✔  Hybrid Quantum Validation: </a:t>
            </a:r>
            <a:r>
              <a:rPr b="0" sz="1150">
                <a:solidFill>
                  <a:srgbClr val="1E293B"/>
                </a:solidFill>
              </a:rPr>
              <a:t>Conducted rigorous multi-seed ablation comparing 4-qubit VQC (12 quantum params) against matched classical dense baselines on identical frozen features.</a:t>
            </a:r>
          </a:p>
          <a:p>
            <a:pPr>
              <a:spcAft>
                <a:spcPts val="500"/>
              </a:spcAft>
              <a:defRPr sz="1250" b="1">
                <a:solidFill>
                  <a:srgbClr val="10B981"/>
                </a:solidFill>
              </a:defRPr>
            </a:pPr>
            <a:r>
              <a:t>✔  Multi-Disease &amp; Multi-Axis Analytics: </a:t>
            </a:r>
            <a:r>
              <a:rPr b="0" sz="1150">
                <a:solidFill>
                  <a:srgbClr val="1E293B"/>
                </a:solidFill>
              </a:rPr>
              <a:t>Demonstrated 100% referable DR sensitivity and 81.2% normal specificity on RFMiD holdout, augmented with quantitative scoring for Vasculature, DME, CDR, and Lens clarity.</a:t>
            </a:r>
          </a:p>
          <a:p>
            <a:pPr>
              <a:spcAft>
                <a:spcPts val="500"/>
              </a:spcAft>
              <a:defRPr sz="1250" b="1">
                <a:solidFill>
                  <a:srgbClr val="10B981"/>
                </a:solidFill>
              </a:defRPr>
            </a:pPr>
            <a:r>
              <a:t>✔  Enterprise Tele-Medicine Platform: </a:t>
            </a:r>
            <a:r>
              <a:rPr b="0" sz="1150">
                <a:solidFill>
                  <a:srgbClr val="1E293B"/>
                </a:solidFill>
              </a:rPr>
              <a:t>Implemented web application with AES-GCM encryption at rest, 4 visual themes, 1-click EHR progress note export, and downloadable ISO 13485 medical PDF reports.</a:t>
            </a:r>
          </a:p>
          <a:p>
            <a:pPr>
              <a:spcAft>
                <a:spcPts val="500"/>
              </a:spcAft>
              <a:defRPr sz="1250" b="1">
                <a:solidFill>
                  <a:srgbClr val="0284C7"/>
                </a:solidFill>
              </a:defRPr>
            </a:pPr>
            <a:r>
              <a:t>✔  Future Roadmap - Hardware Execution: </a:t>
            </a:r>
            <a:r>
              <a:rPr b="0" sz="1150">
                <a:solidFill>
                  <a:srgbClr val="1E293B"/>
                </a:solidFill>
              </a:rPr>
              <a:t>Port variational quantum circuits to physical Quantum Processing Units (QPUs) via IBM Quantum / Amazon Braket quantum cloud infrastructure.</a:t>
            </a:r>
          </a:p>
          <a:p>
            <a:pPr>
              <a:spcAft>
                <a:spcPts val="500"/>
              </a:spcAft>
              <a:defRPr sz="1250" b="1">
                <a:solidFill>
                  <a:srgbClr val="0284C7"/>
                </a:solidFill>
              </a:defRPr>
            </a:pPr>
            <a:r>
              <a:t>✔  Future Roadmap - Clinical Trials: </a:t>
            </a:r>
            <a:r>
              <a:rPr b="0" sz="1150">
                <a:solidFill>
                  <a:srgbClr val="1E293B"/>
                </a:solidFill>
              </a:rPr>
              <a:t>Initiate multi-centre prospective observational studies in community health centers under licensed ophthalmologist supervision.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Academic References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188720"/>
            <a:ext cx="10698480" cy="5120640"/>
          </a:xfrm>
        </p:spPr>
        <p:txBody>
          <a:bodyPr/>
          <a:lstStyle/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[1]  </a:t>
            </a:r>
            <a:r>
              <a:rPr b="0" sz="1000">
                <a:solidFill>
                  <a:srgbClr val="1E293B"/>
                </a:solidFill>
              </a:rPr>
              <a:t>Gulshan et al., 'Development and Validation of a Deep Learning Algorithm for Detection of DR in Retinal Photographs,' JAMA, vol. 316, pp. 2402-2410, 2016.</a:t>
            </a:r>
            <a:endParaRPr lang="en-IN" dirty="0"/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[2]  </a:t>
            </a:r>
            <a:r>
              <a:rPr b="0" sz="1000">
                <a:solidFill>
                  <a:srgbClr val="1E293B"/>
                </a:solidFill>
              </a:rPr>
              <a:t>Ting et al., 'Development and Validation of a Deep Learning System for DR and Related Eye Diseases in Multiethnic Populations,' JAMA, vol. 318, pp. 2211-2223, 2017.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[3]  </a:t>
            </a:r>
            <a:r>
              <a:rPr b="0" sz="1000">
                <a:solidFill>
                  <a:srgbClr val="1E293B"/>
                </a:solidFill>
              </a:rPr>
              <a:t>Abramoff et al., 'Pivotal Trial of an Autonomous AI-Based Diagnostic System for Detection of DR in Primary Care Offices,' npj Digital Medicine, vol. 1, art. 39, 2018.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[4]  </a:t>
            </a:r>
            <a:r>
              <a:rPr b="0" sz="1000">
                <a:solidFill>
                  <a:srgbClr val="1E293B"/>
                </a:solidFill>
              </a:rPr>
              <a:t>Alyoubi et al., 'Diabetic Retinopathy Detection Through Deep Learning Techniques: A Review,' Informatics in Medicine Unlocked, vol. 20, 100377, 2020.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[5]  </a:t>
            </a:r>
            <a:r>
              <a:rPr b="0" sz="1000">
                <a:solidFill>
                  <a:srgbClr val="1E293B"/>
                </a:solidFill>
              </a:rPr>
              <a:t>Pratt et al., 'Convolutional Neural Networks for Diabetic Retinopathy,' Procedia Computer Science, vol. 90, pp. 200-205, 2016.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[6]  </a:t>
            </a:r>
            <a:r>
              <a:rPr b="0" sz="1000">
                <a:solidFill>
                  <a:srgbClr val="1E293B"/>
                </a:solidFill>
              </a:rPr>
              <a:t>Romero-Oraa et al., 'Attention-Based Deep Learning Framework for Automatic Fundus Image Processing to Aid in DR Grading,' CMPB, vol. 249, 108160, 2024.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[7]  </a:t>
            </a:r>
            <a:r>
              <a:rPr b="0" sz="1000">
                <a:solidFill>
                  <a:srgbClr val="1E293B"/>
                </a:solidFill>
              </a:rPr>
              <a:t>Li et al., 'CANet: Cross-Disease Attention Network for Joint DR and Diabetic Macular Edema Grading,' IEEE TMI, vol. 39, pp. 1483-1493, 2020.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[8]  </a:t>
            </a:r>
            <a:r>
              <a:rPr b="0" sz="1000">
                <a:solidFill>
                  <a:srgbClr val="1E293B"/>
                </a:solidFill>
              </a:rPr>
              <a:t>Porwal et al., 'Indian Diabetic Retinopathy Image Dataset (IDRiD): A Database for Screening Research,' Data, vol. 3, 2018.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[9]  </a:t>
            </a:r>
            <a:r>
              <a:rPr b="0" sz="1000">
                <a:solidFill>
                  <a:srgbClr val="1E293B"/>
                </a:solidFill>
              </a:rPr>
              <a:t>Project Synopsis, 'An Intelligent Healthcare System for Early Diagnosis of DR Using AI,' Dept. of CSE, Sir MVIT, VTU Belagavi, 2026.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[10]  </a:t>
            </a:r>
            <a:r>
              <a:rPr b="0" sz="1000">
                <a:solidFill>
                  <a:srgbClr val="1E293B"/>
                </a:solidFill>
              </a:rPr>
              <a:t>Mir et al., 'Diabetic Retinopathy Detection Using Classical-Quantum Transfer Learning Approach,' CMC, vol. 71, pp. 3733-3746, 2022.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[11]  </a:t>
            </a:r>
            <a:r>
              <a:rPr b="0" sz="1000">
                <a:solidFill>
                  <a:srgbClr val="1E293B"/>
                </a:solidFill>
              </a:rPr>
              <a:t>Jain et al., 'Diabetic Retinopathy Detection Using Quantum Transfer Learning,' arXiv:2405.01734, 2024.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References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188720"/>
            <a:ext cx="10698480" cy="5120640"/>
          </a:xfrm>
        </p:spPr>
        <p:txBody>
          <a:bodyPr/>
          <a:lstStyle/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[12]  </a:t>
            </a:r>
            <a:r>
              <a:rPr b="0" sz="1000">
                <a:solidFill>
                  <a:srgbClr val="1E293B"/>
                </a:solidFill>
              </a:rPr>
              <a:t>Bali et al., 'QuantumNet: An Enhanced Diabetic Retinopathy Detection Model Using Classical DL-QTL,' MethodsX, vol. 14, 103185, 2025.</a:t>
            </a:r>
            <a:endParaRPr lang="en-IN" dirty="0"/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[13]  </a:t>
            </a:r>
            <a:r>
              <a:rPr b="0" sz="1000">
                <a:solidFill>
                  <a:srgbClr val="1E293B"/>
                </a:solidFill>
              </a:rPr>
              <a:t>Ikram &amp; Imran, 'Fundus Imaging Based Quantum Computing: Grading of Vision Threatening Diabetic Retinopathy,' Informatics in Med. Unlocked, vol. 61, 2026.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[14]  </a:t>
            </a:r>
            <a:r>
              <a:rPr b="0" sz="1000">
                <a:solidFill>
                  <a:srgbClr val="1E293B"/>
                </a:solidFill>
              </a:rPr>
              <a:t>Chilukuri et al., 'Quantum Denoising Autoencoder Improves Retinal Fundus Image Quality for Early DR Screening,' Scientific Reports, vol. 16, art. 5970, 2026.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[15]  </a:t>
            </a:r>
            <a:r>
              <a:rPr b="0" sz="1000">
                <a:solidFill>
                  <a:srgbClr val="1E293B"/>
                </a:solidFill>
              </a:rPr>
              <a:t>Menaka et al., 'A Novel Diabetic Retinopathy Detection From Fundus Images Using Hybrid QCNN Models,' Scientific Reports, vol. 16, art. 20878, 2026.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[16]  </a:t>
            </a:r>
            <a:r>
              <a:rPr b="0" sz="1000">
                <a:solidFill>
                  <a:srgbClr val="1E293B"/>
                </a:solidFill>
              </a:rPr>
              <a:t>Mari et al., 'Transfer Learning in Hybrid Classical-Quantum Neural Networks,' Quantum, vol. 4, p. 340, 2020.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[17]  </a:t>
            </a:r>
            <a:r>
              <a:rPr b="0" sz="1000">
                <a:solidFill>
                  <a:srgbClr val="1E293B"/>
                </a:solidFill>
              </a:rPr>
              <a:t>Sim et al., 'Expressibility and Entangling Capability of Parameterized Quantum Circuits,' Advanced Quantum Technologies, vol. 2, 1900070, 2019.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[18]  </a:t>
            </a:r>
            <a:r>
              <a:rPr b="0" sz="1000">
                <a:solidFill>
                  <a:srgbClr val="1E293B"/>
                </a:solidFill>
              </a:rPr>
              <a:t>Hubregtsen et al., 'Evaluation of Parameterized Quantum Circuits: Accuracy, Expressibility, and Entangling Capability,' QMI, vol. 3, 2021.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[19]  </a:t>
            </a:r>
            <a:r>
              <a:rPr b="0" sz="1000">
                <a:solidFill>
                  <a:srgbClr val="1E293B"/>
                </a:solidFill>
              </a:rPr>
              <a:t>Schuld et al., 'Evaluating Analytic Gradients on Quantum Hardware,' Physical Review A, vol. 99, 032331, 2019.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[20]  </a:t>
            </a:r>
            <a:r>
              <a:rPr b="0" sz="1000">
                <a:solidFill>
                  <a:srgbClr val="1E293B"/>
                </a:solidFill>
              </a:rPr>
              <a:t>Bergholm et al., 'PennyLane: Automatic Differentiation of Hybrid Quantum-Classical Computations,' arXiv:1811.04968, 2018.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[21]  </a:t>
            </a:r>
            <a:r>
              <a:rPr b="0" sz="1000">
                <a:solidFill>
                  <a:srgbClr val="1E293B"/>
                </a:solidFill>
              </a:rPr>
              <a:t>Preskill, 'Quantum Computing in the NISQ Era and Beyond,' Quantum, vol. 2, p. 79, 2018.</a:t>
            </a:r>
          </a:p>
          <a:p>
            <a:pPr>
              <a:spcAft>
                <a:spcPts val="300"/>
              </a:spcAft>
              <a:defRPr sz="1050" b="1">
                <a:solidFill>
                  <a:srgbClr val="0284C7"/>
                </a:solidFill>
              </a:defRPr>
            </a:pPr>
            <a:r>
              <a:t>[22]  </a:t>
            </a:r>
            <a:r>
              <a:rPr b="0" sz="1000">
                <a:solidFill>
                  <a:srgbClr val="1E293B"/>
                </a:solidFill>
              </a:rPr>
              <a:t>McClean et al., 'Barren Plateaus in Quantum Neural Network Training Landscapes,' Nature Communications, vol. 9, art. 4812,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1045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SIR  M VISVESWARAYA INSTITUTE OF TECHNOLOGY       DEPARTMENT OF COMPUTER SCIENCE AND ENGINEERING</vt:lpstr>
      <vt:lpstr>AGENDA </vt:lpstr>
      <vt:lpstr> Implementation</vt:lpstr>
      <vt:lpstr> Testing</vt:lpstr>
      <vt:lpstr>        Performance Analysis(Optional) </vt:lpstr>
      <vt:lpstr>Publication/Conference </vt:lpstr>
      <vt:lpstr>Outcomes Mapped to SDG</vt:lpstr>
      <vt:lpstr>Screenshots</vt:lpstr>
      <vt:lpstr>SUMMARY</vt:lpstr>
      <vt:lpstr> References.</vt:lpstr>
      <vt:lpstr>REFERENCES.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SIR  M VISVESWARAYA INSTITUTE OF TECHNOLOGY       DEPARTMENT OF COMPUTER SCIENCE AND ENGINEERING</dc:title>
  <dc:creator>Admin</dc:creator>
  <cp:lastModifiedBy>SHIVARANJINI R</cp:lastModifiedBy>
  <cp:revision>9</cp:revision>
  <dcterms:created xsi:type="dcterms:W3CDTF">2025-02-20T02:30:00Z</dcterms:created>
  <dcterms:modified xsi:type="dcterms:W3CDTF">2026-10-14T10:34:21Z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E1EC97CB19FE4AE6AD01A29036E81688_13</vt:lpwstr>
  </property>
  <property fmtid="{D5CDD505-2E9C-101B-9397-08002B2CF9AE}" pid="3" name="KSOProductBuildVer">
    <vt:lpwstr>1033-12.1.0.28485</vt:lpwstr>
  </property>
</Properties>
</file>